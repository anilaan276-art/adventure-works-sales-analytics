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4008" r:id="rId1"/>
  </p:sld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0" r:id="rId9"/>
    <p:sldId id="265" r:id="rId10"/>
    <p:sldId id="273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4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07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8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61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74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2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602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1247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14356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2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67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A192F79E-FAFF-4F9A-B770-41D6254A094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29657E-D7E5-4109-A591-8F6961015BE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228941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9" r:id="rId1"/>
    <p:sldLayoutId id="2147484010" r:id="rId2"/>
    <p:sldLayoutId id="2147484011" r:id="rId3"/>
    <p:sldLayoutId id="2147484012" r:id="rId4"/>
    <p:sldLayoutId id="2147484013" r:id="rId5"/>
    <p:sldLayoutId id="2147484014" r:id="rId6"/>
    <p:sldLayoutId id="2147484015" r:id="rId7"/>
    <p:sldLayoutId id="2147484016" r:id="rId8"/>
    <p:sldLayoutId id="2147484017" r:id="rId9"/>
    <p:sldLayoutId id="2147484018" r:id="rId10"/>
    <p:sldLayoutId id="21474840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4271"/>
            <a:ext cx="9070848" cy="251705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adventure Works Sales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686351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End-to-End Sales Analysis using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SQL, Excel, Power BI &amp; Tableau</a:t>
            </a:r>
          </a:p>
          <a:p>
            <a:pPr algn="ctr"/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Anila.AN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6180" y="668594"/>
            <a:ext cx="9729019" cy="1345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9975" y="1936956"/>
            <a:ext cx="9729020" cy="4252452"/>
          </a:xfrm>
        </p:spPr>
        <p:txBody>
          <a:bodyPr>
            <a:normAutofit lnSpcReduction="10000"/>
          </a:bodyPr>
          <a:lstStyle/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name 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Adventure Works</a:t>
            </a: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Provided by Adventure Works</a:t>
            </a:r>
          </a:p>
          <a:p>
            <a:r>
              <a:rPr lang="en-US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Domain: </a:t>
            </a:r>
            <a:r>
              <a:rPr lang="en-US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&amp; Business Analytics</a:t>
            </a:r>
          </a:p>
          <a:p>
            <a:pPr marL="0" indent="0">
              <a:buNone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30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Tools Used: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n-NO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Microsoft Excel (Dashboard &amp; KPI Analysis)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Power BI (Interactive BI Reports)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 (Data Extraction &amp; Transformation)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Tableau (Visual Analytics &amp; Storytelling</a:t>
            </a:r>
            <a:r>
              <a:rPr lang="en-US" sz="2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19119" y="707924"/>
            <a:ext cx="10353761" cy="78028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16077" y="1582994"/>
            <a:ext cx="10353762" cy="4872670"/>
          </a:xfrm>
        </p:spPr>
        <p:txBody>
          <a:bodyPr>
            <a:normAutofit fontScale="55000" lnSpcReduction="20000"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Adventure Works Sales Analytics Project aims to transform raw sales data into meaningful insights.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help the business understand its performance and make better decisions.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follows a complete data analytics lifecycle.</a:t>
            </a:r>
          </a:p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beginning with data extraction and preparation, and ending with interactive dashboards created using multiple business intelligence tools.</a:t>
            </a:r>
          </a:p>
          <a:p>
            <a:pPr marL="0" indent="0">
              <a:buNone/>
            </a:pPr>
            <a:b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42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    OBJECTIVES </a:t>
            </a:r>
          </a:p>
          <a:p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overall </a:t>
            </a:r>
            <a:r>
              <a:rPr lang="en-US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performance</a:t>
            </a:r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Adventure Works.</a:t>
            </a:r>
          </a:p>
          <a:p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</a:t>
            </a:r>
            <a:r>
              <a:rPr lang="en-US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top-performing products and categories.</a:t>
            </a:r>
          </a:p>
          <a:p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</a:t>
            </a:r>
            <a:r>
              <a:rPr lang="en-US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year-wise, quarter-wise, and month-wise trends.</a:t>
            </a:r>
          </a:p>
          <a:p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Track </a:t>
            </a:r>
            <a:r>
              <a:rPr lang="en-US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demand and order behavior.</a:t>
            </a:r>
          </a:p>
          <a:p>
            <a:r>
              <a:rPr lang="en-US" sz="33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 insights through </a:t>
            </a:r>
            <a:r>
              <a:rPr lang="en-US" sz="33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799" y="462116"/>
            <a:ext cx="10058400" cy="1140542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Business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1820" y="1966452"/>
            <a:ext cx="9473380" cy="406858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products contribute the most to revenue?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regions generate higher profits?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production cost affect overall profitability?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can the company improve profit margins?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438" y="642594"/>
            <a:ext cx="10353762" cy="1371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8528" y="2014194"/>
            <a:ext cx="9866671" cy="41671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  Adventure Works sample database</a:t>
            </a:r>
          </a:p>
          <a:p>
            <a:pPr marL="0" indent="0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includes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 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details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orders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information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quantity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price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Unit cost 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Discount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3496" y="1936955"/>
            <a:ext cx="9571703" cy="409808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Removed duplicate and null records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Standardized data formats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Verified numerical consistency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new calculated fields for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2942" y="583600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Calculations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8968" y="1799303"/>
            <a:ext cx="9306232" cy="3460955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Amount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= Unit Price × Order Quantity − Discount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 Cost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= Unit Cost × Order Quantity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 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= Sales Amount − Production Cost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5846" y="310012"/>
            <a:ext cx="8522305" cy="740664"/>
          </a:xfrm>
        </p:spPr>
        <p:txBody>
          <a:bodyPr>
            <a:noAutofit/>
          </a:bodyPr>
          <a:lstStyle/>
          <a:p>
            <a:r>
              <a:rPr lang="en-US" sz="4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Excel Dashboard Overview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" r="14313" b="30377"/>
          <a:stretch>
            <a:fillRect/>
          </a:stretch>
        </p:blipFill>
        <p:spPr>
          <a:xfrm>
            <a:off x="5384840" y="1927123"/>
            <a:ext cx="6351935" cy="2821857"/>
          </a:xfrm>
        </p:spPr>
      </p:pic>
      <p:sp>
        <p:nvSpPr>
          <p:cNvPr id="12" name="Text Placeholder 11"/>
          <p:cNvSpPr>
            <a:spLocks noGrp="1"/>
          </p:cNvSpPr>
          <p:nvPr>
            <p:ph type="body" sz="half" idx="2"/>
          </p:nvPr>
        </p:nvSpPr>
        <p:spPr>
          <a:xfrm>
            <a:off x="462509" y="1609344"/>
            <a:ext cx="4593433" cy="5248656"/>
          </a:xfrm>
        </p:spPr>
        <p:txBody>
          <a:bodyPr>
            <a:norm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Customers, Total Sales, Total Profit, and Total Orders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distribution by quarter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a pie chart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year-wise and month-wise sales trends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category-wise order quantity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slicers for Year and Category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enable interactive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push dir="u"/>
      </p:transition>
    </mc:Choice>
    <mc:Fallback xmlns=""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246" y="0"/>
            <a:ext cx="8386916" cy="971919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Power bi  Dashboard Overview</a:t>
            </a:r>
            <a:endParaRPr lang="en-US" sz="4400" b="1" dirty="0">
              <a:latin typeface="Book Antiqua" panose="0204060205030503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112" y="1656837"/>
            <a:ext cx="5934282" cy="3007782"/>
          </a:xfrm>
        </p:spPr>
      </p:pic>
      <p:sp>
        <p:nvSpPr>
          <p:cNvPr id="9" name="Rectangle 3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50606" y="1494520"/>
            <a:ext cx="452780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key KPIs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sales, cost, price, and tax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yearly and monthly sales trends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vs production cost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profitability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quarterly and seasonal performance</a:t>
            </a:r>
            <a:endParaRPr lang="en-US" alt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filters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detailed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794" y="113072"/>
            <a:ext cx="10064812" cy="810218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My </a:t>
            </a:r>
            <a:r>
              <a:rPr lang="en-US" sz="4000" b="1" dirty="0" err="1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sql</a:t>
            </a:r>
            <a:r>
              <a:rPr lang="en-US" sz="40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  <a:sym typeface="+mn-ea"/>
              </a:rPr>
              <a:t> Dashboard Overview</a:t>
            </a:r>
            <a:r>
              <a:rPr lang="en-US" sz="4000" b="1" dirty="0">
                <a:latin typeface="Book Antiqua" panose="02040602050305030304" pitchFamily="18" charset="0"/>
                <a:cs typeface="Calibri" panose="020F0502020204030204" pitchFamily="34" charset="0"/>
              </a:rPr>
              <a:t>  </a:t>
            </a:r>
            <a:r>
              <a:rPr lang="en-US" sz="4000" b="1" dirty="0">
                <a:latin typeface="Book Antiqua" panose="02040602050305030304" pitchFamily="18" charset="0"/>
              </a:rPr>
              <a:t>                                     </a:t>
            </a:r>
          </a:p>
        </p:txBody>
      </p:sp>
      <p:pic>
        <p:nvPicPr>
          <p:cNvPr id="5" name="Content Placeholder 4" descr="Sql_Project_Image_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9" y="2251587"/>
            <a:ext cx="5531771" cy="3111621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923" y="1789471"/>
            <a:ext cx="4680154" cy="4955458"/>
          </a:xfrm>
        </p:spPr>
        <p:txBody>
          <a:bodyPr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Used MySQL Workbench to analyze Final Sales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Final Sales contains customer, product, date, and sales details.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SELECT * used to view and understand the dataset.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Top 10 customers identified using SUM + GROUP BY + ORDER BY + LIMIT.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Sales Amount checked for data validation.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Category-wise sales analyzed using aggregations.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DISTINCT used to fetch unique product categories.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Customer purchase count calculated using COUNT ( Product Key ) 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HAVING &gt; 5 filters high-value customers.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2219" y="353961"/>
            <a:ext cx="8659565" cy="639097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Tableau Dashboard Overview</a:t>
            </a:r>
            <a:endParaRPr lang="en-US" sz="4000" b="1" dirty="0">
              <a:latin typeface="Book Antiqua" panose="0204060205030503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381" y="1868129"/>
            <a:ext cx="5860156" cy="2920207"/>
          </a:xfrm>
        </p:spPr>
      </p:pic>
      <p:sp>
        <p:nvSpPr>
          <p:cNvPr id="9" name="Rectangle 3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599768" y="1575848"/>
            <a:ext cx="411971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(₹29.36M)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Profit (₹12.08M)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overall business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and yearly sales trends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track growth and peak periods.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vs Production Cost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analyze profitability over time.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product-wise profit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identifying top-performing products.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filters (Month, Year, Product Category)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detailed analysis.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mb/>
      </p:transition>
    </mc:Choice>
    <mc:Fallback xmlns="">
      <p:transition spd="slow">
        <p:comb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66799" y="484632"/>
            <a:ext cx="10102645" cy="95087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Sales Analysis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22557" y="1317523"/>
            <a:ext cx="9724101" cy="491819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increased during peak seasons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product categories contribute maximum revenue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and yearly trends show consistent growth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PROFIT ANALYSIS</a:t>
            </a:r>
          </a:p>
          <a:p>
            <a:pPr marL="0" indent="0">
              <a:buNone/>
            </a:pPr>
            <a:endParaRPr lang="en-US" sz="24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products show high sales but low profit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production cost directly impacts profit margin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Accessories have better profit percentage compared to some bikes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ipe/>
      </p:transition>
    </mc:Choice>
    <mc:Fallback xmlns=""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725" y="870156"/>
            <a:ext cx="9252154" cy="583741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Region-Wise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2554" y="1907457"/>
            <a:ext cx="9330814" cy="4080387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performing regions generate the highest revenue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 regions show potential for improvement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Regional demand varies by product category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number of products contribute to major profits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 optimization can significantly improve margins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trends affect sales performance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visualization improves decision-making speed</a:t>
            </a:r>
          </a:p>
          <a:p>
            <a:pPr marL="0" indent="0">
              <a:buNone/>
            </a:pPr>
            <a:endParaRPr lang="en-US" sz="3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 dir="in"/>
      </p:transition>
    </mc:Choice>
    <mc:Fallback xmlns="">
      <p:transition spd="slow">
        <p:split orient="vert" dir="in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928" y="639097"/>
            <a:ext cx="8760543" cy="68825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8928" y="1474838"/>
            <a:ext cx="9202995" cy="462116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marketing on high-profit products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Reduce production cost for low-margin items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inventory based on sales trends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business in high-performing regions</a:t>
            </a:r>
          </a:p>
          <a:p>
            <a:pPr marL="0" indent="0">
              <a:buNone/>
            </a:pPr>
            <a:endParaRPr lang="en-US" sz="24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Challenges Faced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Handling large datasets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Cleaning inconsistent data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advanced formulas / queries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Designing meaningful visualizations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5" y="609601"/>
            <a:ext cx="10846932" cy="935736"/>
          </a:xfrm>
        </p:spPr>
        <p:txBody>
          <a:bodyPr/>
          <a:lstStyle/>
          <a:p>
            <a:pPr algn="ctr"/>
            <a:r>
              <a:rPr lang="en-US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52840" y="2214327"/>
            <a:ext cx="1022788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Demonstrates how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analysis provides clear visibility into business performance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Adventure Works.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profitable products, trends, and growth opportunities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sales and cost analysis.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data-driven decision-making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by transforming raw data into meaningful insights.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Improves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planning and operational efficiency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interactive dashboards.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Enables better </a:t>
            </a:r>
            <a:r>
              <a:rPr lang="en-US" altLang="en-US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financial control and long-term business growth</a:t>
            </a:r>
            <a:r>
              <a:rPr lang="en-US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48554"/>
          </a:xfrm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4400" b="1" dirty="0">
                <a:latin typeface="Book Antiqua" panose="0204060205030503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0917" y="2143431"/>
            <a:ext cx="8495677" cy="376152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forecasting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segmentation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dashboard integration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 predictive analytics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cover dir="d"/>
      </p:transition>
    </mc:Choice>
    <mc:Fallback xmlns="">
      <p:transition spd="slow">
        <p:cover dir="d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73</TotalTime>
  <Words>733</Words>
  <Application>Microsoft Office PowerPoint</Application>
  <PresentationFormat>Widescreen</PresentationFormat>
  <Paragraphs>126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Book Antiqua</vt:lpstr>
      <vt:lpstr>Calibri</vt:lpstr>
      <vt:lpstr>Garamond</vt:lpstr>
      <vt:lpstr>Wingdings</vt:lpstr>
      <vt:lpstr>Savon</vt:lpstr>
      <vt:lpstr>adventure Works Sales Analytics Project</vt:lpstr>
      <vt:lpstr>Project Details</vt:lpstr>
      <vt:lpstr>Project Overview</vt:lpstr>
      <vt:lpstr>Business Problem Statement</vt:lpstr>
      <vt:lpstr>Dataset Overview</vt:lpstr>
      <vt:lpstr>Data Preparation</vt:lpstr>
      <vt:lpstr>Calculations Used</vt:lpstr>
      <vt:lpstr>Excel Dashboard Overview</vt:lpstr>
      <vt:lpstr>Power bi  Dashboard Overview</vt:lpstr>
      <vt:lpstr>My sql Dashboard Overview                                       </vt:lpstr>
      <vt:lpstr>Tableau Dashboard Overview</vt:lpstr>
      <vt:lpstr>Sales Analysis</vt:lpstr>
      <vt:lpstr>Region-Wise Performance</vt:lpstr>
      <vt:lpstr>Business Recommendations</vt:lpstr>
      <vt:lpstr>Conclusion</vt:lpstr>
      <vt:lpstr> Future Scope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Sales Analytics Project</dc:title>
  <dc:creator>dr avinash naik</dc:creator>
  <cp:lastModifiedBy>anila A N</cp:lastModifiedBy>
  <cp:revision>6</cp:revision>
  <dcterms:created xsi:type="dcterms:W3CDTF">2025-12-14T05:27:00Z</dcterms:created>
  <dcterms:modified xsi:type="dcterms:W3CDTF">2026-01-03T07:35:44Z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0FE9698F4E494D1385ED563EA52F4760_13</vt:lpwstr>
  </property>
  <property fmtid="{D5CDD505-2E9C-101B-9397-08002B2CF9AE}" pid="3" name="KSOProductBuildVer">
    <vt:lpwstr>1033-12.2.0.23155</vt:lpwstr>
  </property>
</Properties>
</file>